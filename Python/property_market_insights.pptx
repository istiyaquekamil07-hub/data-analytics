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75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6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114300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Gurgaon Property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659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0">
                <a:solidFill>
                  <a:srgbClr val="B8E0D2"/>
                </a:solidFill>
                <a:latin typeface="Aptos"/>
              </a:defRPr>
            </a:pPr>
            <a:r>
              <a:t>Pricing signals, premium segments and commercial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949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D7E8E4"/>
                </a:solidFill>
                <a:latin typeface="Aptos"/>
              </a:defRPr>
            </a:pPr>
            <a:r>
              <a:t>14,223 unique listings after deduplication  |  Prepared 05 Sep 2026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3642"/>
                </a:solidFill>
                <a:latin typeface="Aptos"/>
              </a:defRPr>
            </a:pPr>
            <a:r>
              <a:t>Executive readout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607D8B"/>
                </a:solidFill>
                <a:latin typeface="Aptos"/>
              </a:defRPr>
            </a:pPr>
            <a:r>
              <a:t>The market is segmented: location and luxury product dominate headline prices.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5074920" cy="1600200"/>
          </a:xfrm>
          <a:prstGeom prst="rect">
            <a:avLst/>
          </a:prstGeom>
          <a:solidFill>
            <a:srgbClr val="EAF6F3"/>
          </a:solidFill>
          <a:ln>
            <a:solidFill>
              <a:srgbClr val="C7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527048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2B8A7"/>
                </a:solidFill>
                <a:latin typeface="Aptos"/>
              </a:defRPr>
            </a:pPr>
            <a:r>
              <a:t>₹122.63 Cr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574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3642"/>
                </a:solidFill>
                <a:latin typeface="Aptos"/>
              </a:defRPr>
            </a:pPr>
            <a:r>
              <a:t>Costliest listing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0487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607D8B"/>
                </a:solidFill>
                <a:latin typeface="Aptos"/>
              </a:defRPr>
            </a:pPr>
            <a:r>
              <a:t>6 BHK DLF Camellias, Sector 42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325880"/>
            <a:ext cx="5074920" cy="1600200"/>
          </a:xfrm>
          <a:prstGeom prst="rect">
            <a:avLst/>
          </a:prstGeom>
          <a:solidFill>
            <a:srgbClr val="EAF6F3"/>
          </a:solidFill>
          <a:ln>
            <a:solidFill>
              <a:srgbClr val="C7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37960" y="1527048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2B8A7"/>
                </a:solidFill>
                <a:latin typeface="Aptos"/>
              </a:defRPr>
            </a:pPr>
            <a:r>
              <a:t>Sector 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0574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3642"/>
                </a:solidFill>
                <a:latin typeface="Aptos"/>
              </a:defRPr>
            </a:pPr>
            <a:r>
              <a:t>Highest locality average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40487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607D8B"/>
                </a:solidFill>
                <a:latin typeface="Aptos"/>
              </a:defRPr>
            </a:pPr>
            <a:r>
              <a:t>₹50.24 Cr across 60 listings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474720"/>
            <a:ext cx="5074920" cy="1600200"/>
          </a:xfrm>
          <a:prstGeom prst="rect">
            <a:avLst/>
          </a:prstGeom>
          <a:solidFill>
            <a:srgbClr val="EAF6F3"/>
          </a:solidFill>
          <a:ln>
            <a:solidFill>
              <a:srgbClr val="C7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3675887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2B8A7"/>
                </a:solidFill>
                <a:latin typeface="Aptos"/>
              </a:defRPr>
            </a:pPr>
            <a:r>
              <a:t>₹55,989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06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3642"/>
                </a:solidFill>
                <a:latin typeface="Aptos"/>
              </a:defRPr>
            </a:pPr>
            <a:r>
              <a:t>Highest locality 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55371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607D8B"/>
                </a:solidFill>
                <a:latin typeface="Aptos"/>
              </a:defRPr>
            </a:pPr>
            <a:r>
              <a:t>Average listed rate / sqft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488575"/>
            <a:ext cx="5074920" cy="1600200"/>
          </a:xfrm>
          <a:prstGeom prst="rect">
            <a:avLst/>
          </a:prstGeom>
          <a:solidFill>
            <a:srgbClr val="EAF6F3"/>
          </a:solidFill>
          <a:ln>
            <a:solidFill>
              <a:srgbClr val="C7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37960" y="3675887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2B8A7"/>
                </a:solidFill>
                <a:latin typeface="Aptos"/>
              </a:defRPr>
            </a:pPr>
            <a:r>
              <a:t>+5%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4206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3642"/>
                </a:solidFill>
                <a:latin typeface="Aptos"/>
              </a:defRPr>
            </a:pPr>
            <a:r>
              <a:t>Ready vs under-construction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455371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607D8B"/>
                </a:solidFill>
                <a:latin typeface="Aptos"/>
              </a:defRPr>
            </a:pPr>
            <a:r>
              <a:t>Average price: ₹4.15 Cr vs ₹3.96 Cr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78909C"/>
                </a:solidFill>
                <a:latin typeface="Aptos"/>
              </a:defRPr>
            </a:pPr>
            <a:r>
              <a:t>Property market analysis  |  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3642"/>
                </a:solidFill>
                <a:latin typeface="Aptos"/>
              </a:defRPr>
            </a:pPr>
            <a:r>
              <a:t>1 | The costliest flat is a clear luxury outlier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4206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22B8A7"/>
                </a:solidFill>
                <a:latin typeface="Aptos"/>
              </a:defRPr>
            </a:pPr>
            <a:r>
              <a:t>₹122.63 Cr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43642"/>
                </a:solidFill>
                <a:latin typeface="Aptos"/>
              </a:defRPr>
            </a:pPr>
            <a:r>
              <a:t>6 BHK Apartment in DLF Camellias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512064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03040"/>
                </a:solidFill>
                <a:latin typeface="Aptos"/>
              </a:defRPr>
            </a:pPr>
            <a:r>
              <a:t>Sector 42  |  16,500 sqft  |  ₹74,323 listed rate / sqft</a:t>
            </a:r>
          </a:p>
          <a:p>
            <a:pPr>
              <a:spcAft>
                <a:spcPts val="1000"/>
              </a:spcAft>
              <a:defRPr sz="1500">
                <a:solidFill>
                  <a:srgbClr val="203040"/>
                </a:solidFill>
                <a:latin typeface="Aptos"/>
              </a:defRPr>
            </a:pPr>
            <a:r>
              <a:t>Ready to move  |  Not approved by RERA</a:t>
            </a:r>
          </a:p>
          <a:p>
            <a:pPr>
              <a:spcAft>
                <a:spcPts val="1000"/>
              </a:spcAft>
              <a:defRPr sz="1500">
                <a:solidFill>
                  <a:srgbClr val="203040"/>
                </a:solidFill>
                <a:latin typeface="Aptos"/>
              </a:defRPr>
            </a:pPr>
            <a:r>
              <a:t>Builder: Provident Capital  |  Company: DLF</a:t>
            </a:r>
          </a:p>
          <a:p>
            <a:pPr>
              <a:spcAft>
                <a:spcPts val="1000"/>
              </a:spcAft>
              <a:defRPr sz="1500">
                <a:solidFill>
                  <a:srgbClr val="203040"/>
                </a:solidFill>
                <a:latin typeface="Aptos"/>
              </a:defRPr>
            </a:pPr>
            <a:r>
              <a:t>Decision: treat luxury listings separately from mainstream benchmarking.</a:t>
            </a:r>
          </a:p>
        </p:txBody>
      </p:sp>
      <p:pic>
        <p:nvPicPr>
          <p:cNvPr id="6" name="Picture 5" descr="locality_pr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188720"/>
            <a:ext cx="5577840" cy="295338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78909C"/>
                </a:solidFill>
                <a:latin typeface="Aptos"/>
              </a:defRPr>
            </a:pPr>
            <a:r>
              <a:t>Property market analysis  |  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3642"/>
                </a:solidFill>
                <a:latin typeface="Aptos"/>
              </a:defRPr>
            </a:pPr>
            <a:r>
              <a:t>2–3 | Sector 42 leads both price and rate</a:t>
            </a:r>
          </a:p>
        </p:txBody>
      </p:sp>
      <p:pic>
        <p:nvPicPr>
          <p:cNvPr id="3" name="Picture 2" descr="locality_pr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43000"/>
            <a:ext cx="5577840" cy="2953386"/>
          </a:xfrm>
          <a:prstGeom prst="rect">
            <a:avLst/>
          </a:prstGeom>
        </p:spPr>
      </p:pic>
      <p:pic>
        <p:nvPicPr>
          <p:cNvPr id="4" name="Picture 3" descr="locality_r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143000"/>
            <a:ext cx="5486400" cy="29031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8978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3642"/>
                </a:solidFill>
                <a:latin typeface="Aptos"/>
              </a:defRPr>
            </a:pPr>
            <a:r>
              <a:t>Recommendation: use Sector 42 as the luxury benchmark, but require sample counts before generalizing.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78909C"/>
                </a:solidFill>
                <a:latin typeface="Aptos"/>
              </a:defRPr>
            </a:pPr>
            <a:r>
              <a:t>Property market analysis  |  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3642"/>
                </a:solidFill>
                <a:latin typeface="Aptos"/>
              </a:defRPr>
            </a:pPr>
            <a:r>
              <a:t>4–5 | Status shows a small ready-to-move premium; RERA does not</a:t>
            </a:r>
          </a:p>
        </p:txBody>
      </p:sp>
      <p:pic>
        <p:nvPicPr>
          <p:cNvPr id="3" name="Picture 2" descr="stat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43000"/>
            <a:ext cx="5577840" cy="2949685"/>
          </a:xfrm>
          <a:prstGeom prst="rect">
            <a:avLst/>
          </a:prstGeom>
        </p:spPr>
      </p:pic>
      <p:pic>
        <p:nvPicPr>
          <p:cNvPr id="4" name="Picture 3" descr="re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143000"/>
            <a:ext cx="5486400" cy="29049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71500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3642"/>
                </a:solidFill>
                <a:latin typeface="Aptos"/>
              </a:defRPr>
            </a:pPr>
            <a:r>
              <a:t>Ready-to-move avg: ₹4.15 Cr vs under-construction: ₹3.96 Cr (+4.9%). RERA-approved avg: ₹3.86 Cr vs not approved: ₹4.08 Cr (-5.4%).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78909C"/>
                </a:solidFill>
                <a:latin typeface="Aptos"/>
              </a:defRPr>
            </a:pPr>
            <a:r>
              <a:t>Property market analysis  |  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3642"/>
                </a:solidFill>
                <a:latin typeface="Aptos"/>
              </a:defRPr>
            </a:pPr>
            <a:r>
              <a:t>6 | Area raises total price, but the relationship is non-linear</a:t>
            </a:r>
          </a:p>
        </p:txBody>
      </p:sp>
      <p:pic>
        <p:nvPicPr>
          <p:cNvPr id="3" name="Picture 2" descr="area_pr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51560"/>
            <a:ext cx="5669280" cy="2458811"/>
          </a:xfrm>
          <a:prstGeom prst="rect">
            <a:avLst/>
          </a:prstGeom>
        </p:spPr>
      </p:pic>
      <p:pic>
        <p:nvPicPr>
          <p:cNvPr id="4" name="Picture 3" descr="area_bi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051560"/>
            <a:ext cx="5394960" cy="272953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8680" y="5074920"/>
            <a:ext cx="10515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203040"/>
                </a:solidFill>
                <a:latin typeface="Aptos"/>
              </a:defRPr>
            </a:pPr>
            <a:r>
              <a:t>Raw correlation: 0.197; log-scale correlation: 0.804.</a:t>
            </a:r>
          </a:p>
          <a:p>
            <a:pPr>
              <a:spcAft>
                <a:spcPts val="1000"/>
              </a:spcAft>
              <a:defRPr sz="1200">
                <a:solidFill>
                  <a:srgbClr val="203040"/>
                </a:solidFill>
                <a:latin typeface="Aptos"/>
              </a:defRPr>
            </a:pPr>
            <a:r>
              <a:t>The log view is more informative because ultra-large plots and luxury homes distort the raw scale.</a:t>
            </a:r>
          </a:p>
          <a:p>
            <a:pPr>
              <a:spcAft>
                <a:spcPts val="1000"/>
              </a:spcAft>
              <a:defRPr sz="1200">
                <a:solidFill>
                  <a:srgbClr val="203040"/>
                </a:solidFill>
                <a:latin typeface="Aptos"/>
              </a:defRPr>
            </a:pPr>
            <a:r>
              <a:t>Use area as a core pricing driver, but model location, product type and segment alongside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78909C"/>
                </a:solidFill>
                <a:latin typeface="Aptos"/>
              </a:defRPr>
            </a:pPr>
            <a:r>
              <a:t>Property market analysis  |  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3642"/>
                </a:solidFill>
                <a:latin typeface="Aptos"/>
              </a:defRPr>
            </a:pPr>
            <a:r>
              <a:t>7 | Larger BHK configurations command the highest averages</a:t>
            </a:r>
          </a:p>
        </p:txBody>
      </p:sp>
      <p:pic>
        <p:nvPicPr>
          <p:cNvPr id="3" name="Picture 2" descr="bh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6400800" cy="339338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0" y="1600200"/>
            <a:ext cx="4114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2B8A7"/>
                </a:solidFill>
                <a:latin typeface="Aptos"/>
              </a:defRPr>
            </a:pPr>
            <a:r>
              <a:t>7 BHK leads at ₹21.93 Cr average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2468880"/>
            <a:ext cx="411480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03040"/>
                </a:solidFill>
                <a:latin typeface="Aptos"/>
              </a:defRPr>
            </a:pPr>
            <a:r>
              <a:t>7 BHK has the highest average, but only 16 listings.</a:t>
            </a:r>
          </a:p>
          <a:p>
            <a:pPr>
              <a:spcAft>
                <a:spcPts val="1000"/>
              </a:spcAft>
              <a:defRPr sz="1500">
                <a:solidFill>
                  <a:srgbClr val="203040"/>
                </a:solidFill>
                <a:latin typeface="Aptos"/>
              </a:defRPr>
            </a:pPr>
            <a:r>
              <a:t>6 BHK is the stronger luxury signal with 89 listings.</a:t>
            </a:r>
          </a:p>
          <a:p>
            <a:pPr>
              <a:spcAft>
                <a:spcPts val="1000"/>
              </a:spcAft>
              <a:defRPr sz="1500">
                <a:solidFill>
                  <a:srgbClr val="203040"/>
                </a:solidFill>
                <a:latin typeface="Aptos"/>
              </a:defRPr>
            </a:pPr>
            <a:r>
              <a:t>Decision: target 4–6 BHK premium inventory; treat 7+ BHK as a low-volume niche.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78909C"/>
                </a:solidFill>
                <a:latin typeface="Aptos"/>
              </a:defRPr>
            </a:pPr>
            <a:r>
              <a:t>Property market analysis  |  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3642"/>
                </a:solidFill>
                <a:latin typeface="Aptos"/>
              </a:defRPr>
            </a:pPr>
            <a:r>
              <a:t>8 | Penthouse is the costliest property type; apartments drive scale</a:t>
            </a:r>
          </a:p>
        </p:txBody>
      </p:sp>
      <p:pic>
        <p:nvPicPr>
          <p:cNvPr id="3" name="Picture 2" descr="flat_t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6126480" cy="324591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086600" y="1508760"/>
            <a:ext cx="4297680" cy="2834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03040"/>
                </a:solidFill>
                <a:latin typeface="Aptos"/>
              </a:defRPr>
            </a:pPr>
            <a:r>
              <a:t>Penthouse: ₹13.78 Cr average, but only 32 listings.</a:t>
            </a:r>
          </a:p>
          <a:p>
            <a:pPr>
              <a:spcAft>
                <a:spcPts val="1000"/>
              </a:spcAft>
              <a:defRPr sz="1600">
                <a:solidFill>
                  <a:srgbClr val="203040"/>
                </a:solidFill>
                <a:latin typeface="Aptos"/>
              </a:defRPr>
            </a:pPr>
            <a:r>
              <a:t>Apartment: ₹4.17 Cr average across 10,894 listings.</a:t>
            </a:r>
          </a:p>
          <a:p>
            <a:pPr>
              <a:spcAft>
                <a:spcPts val="1000"/>
              </a:spcAft>
              <a:defRPr sz="1600">
                <a:solidFill>
                  <a:srgbClr val="203040"/>
                </a:solidFill>
                <a:latin typeface="Aptos"/>
              </a:defRPr>
            </a:pPr>
            <a:r>
              <a:t>Decision: separate premium inventory from mass-market volume in pricing and marketing dashboards.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78909C"/>
                </a:solidFill>
                <a:latin typeface="Aptos"/>
              </a:defRPr>
            </a:pPr>
            <a:r>
              <a:t>Property market analysis  |  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3642"/>
                </a:solidFill>
                <a:latin typeface="Aptos"/>
              </a:defRPr>
            </a:pPr>
            <a:r>
              <a:t>9 | Some builders and companies price higher—but mix matters</a:t>
            </a:r>
          </a:p>
        </p:txBody>
      </p:sp>
      <p:pic>
        <p:nvPicPr>
          <p:cNvPr id="3" name="Picture 2" descr="buil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43000"/>
            <a:ext cx="5577840" cy="2922220"/>
          </a:xfrm>
          <a:prstGeom prst="rect">
            <a:avLst/>
          </a:prstGeom>
        </p:spPr>
      </p:pic>
      <p:pic>
        <p:nvPicPr>
          <p:cNvPr id="4" name="Picture 3" descr="compan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143000"/>
            <a:ext cx="5486400" cy="29049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80644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3642"/>
                </a:solidFill>
                <a:latin typeface="Aptos"/>
              </a:defRPr>
            </a:pPr>
            <a:r>
              <a:t>Use builder/company as a premium signal, not a causal claim: high-end inventory mix can explain much of the gap.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78909C"/>
                </a:solidFill>
                <a:latin typeface="Aptos"/>
              </a:defRPr>
            </a:pPr>
            <a:r>
              <a:t>Property market analysis  |  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3642"/>
                </a:solidFill>
                <a:latin typeface="Aptos"/>
              </a:defRPr>
            </a:pPr>
            <a:r>
              <a:t>10 | Larger homes are not always more expensive per square foot</a:t>
            </a:r>
          </a:p>
        </p:txBody>
      </p:sp>
      <p:pic>
        <p:nvPicPr>
          <p:cNvPr id="3" name="Picture 2" descr="area_bi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43000"/>
            <a:ext cx="6400800" cy="323842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79" y="1463040"/>
            <a:ext cx="3383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08A5D"/>
                </a:solidFill>
                <a:latin typeface="Aptos"/>
              </a:defRPr>
            </a:pPr>
            <a:r>
              <a:t>Answer: 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2331720"/>
            <a:ext cx="3840480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03040"/>
                </a:solidFill>
                <a:latin typeface="Aptos"/>
              </a:defRPr>
            </a:pPr>
            <a:r>
              <a:t>Average price / sqft rises and falls across area deciles.</a:t>
            </a:r>
          </a:p>
          <a:p>
            <a:pPr>
              <a:spcAft>
                <a:spcPts val="1000"/>
              </a:spcAft>
              <a:defRPr sz="1600">
                <a:solidFill>
                  <a:srgbClr val="203040"/>
                </a:solidFill>
                <a:latin typeface="Aptos"/>
              </a:defRPr>
            </a:pPr>
            <a:r>
              <a:t>Product type and location can outweigh size: premium smaller homes can command high rates.</a:t>
            </a:r>
          </a:p>
          <a:p>
            <a:pPr>
              <a:spcAft>
                <a:spcPts val="1000"/>
              </a:spcAft>
              <a:defRPr sz="1600">
                <a:solidFill>
                  <a:srgbClr val="203040"/>
                </a:solidFill>
                <a:latin typeface="Aptos"/>
              </a:defRPr>
            </a:pPr>
            <a:r>
              <a:t>Price on total value for portfolio decisions; use rate / sqft for apples-to-apples comparisons.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78909C"/>
                </a:solidFill>
                <a:latin typeface="Aptos"/>
              </a:defRPr>
            </a:pPr>
            <a:r>
              <a:t>Property market analysis  |  10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3642"/>
                </a:solidFill>
                <a:latin typeface="Aptos"/>
              </a:defRPr>
            </a:pPr>
            <a:r>
              <a:t>Decision playbook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607D8B"/>
                </a:solidFill>
                <a:latin typeface="Aptos"/>
              </a:defRPr>
            </a:pPr>
            <a:r>
              <a:t>Translate the data into pricing, targeting and governance 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2B8A7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234440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3642"/>
                </a:solidFill>
                <a:latin typeface="Aptos"/>
              </a:defRPr>
            </a:pPr>
            <a:r>
              <a:t>Segment 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234440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455A64"/>
                </a:solidFill>
                <a:latin typeface="Aptos"/>
              </a:defRPr>
            </a:pPr>
            <a:r>
              <a:t>Separate luxury (Sector 42 / 5–7 BHK / penthouse) from mainstream inventory before benchmarking.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2B8A7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377440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3642"/>
                </a:solidFill>
                <a:latin typeface="Aptos"/>
              </a:defRPr>
            </a:pPr>
            <a:r>
              <a:t>Price with multiple drivers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377440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455A64"/>
                </a:solidFill>
                <a:latin typeface="Aptos"/>
              </a:defRPr>
            </a:pPr>
            <a:r>
              <a:t>Use area + locality + BHK + property type + builder/company; do not rely on area alone.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5204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2B8A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520440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3642"/>
                </a:solidFill>
                <a:latin typeface="Aptos"/>
              </a:defRPr>
            </a:pPr>
            <a:r>
              <a:t>Avoid RERA overpricing assumptions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3520440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455A64"/>
                </a:solidFill>
                <a:latin typeface="Aptos"/>
              </a:defRPr>
            </a:pPr>
            <a:r>
              <a:t>This sample shows no positive RERA price premium; validate with like-for-like comparisons.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2B8A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663440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3642"/>
                </a:solidFill>
                <a:latin typeface="Aptos"/>
              </a:defRPr>
            </a:pPr>
            <a:r>
              <a:t>Use rate / sqft carefully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4663440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455A64"/>
                </a:solidFill>
                <a:latin typeface="Aptos"/>
              </a:defRPr>
            </a:pPr>
            <a:r>
              <a:t>Rate is useful for comparability, but it is not a monotonic function of home size.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8521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3642"/>
                </a:solidFill>
                <a:latin typeface="Aptos"/>
              </a:defRPr>
            </a:pPr>
            <a:r>
              <a:t>Bottom line: premium pricing is primarily a location-and-product story, not simply a size or RERA story.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78909C"/>
                </a:solidFill>
                <a:latin typeface="Aptos"/>
              </a:defRPr>
            </a:pPr>
            <a:r>
              <a:t>Property market analysis  |  11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3642"/>
                </a:solidFill>
                <a:latin typeface="Aptos"/>
              </a:defRPr>
            </a:pPr>
            <a:r>
              <a:t>Methodology and caveats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325880"/>
            <a:ext cx="1051560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03040"/>
                </a:solidFill>
                <a:latin typeface="Aptos"/>
              </a:defRPr>
            </a:pPr>
            <a:r>
              <a:t>Source: market_data.csv; 19,515 raw rows reduced to 14,223 unique listings after exact-duplicate removal.</a:t>
            </a:r>
          </a:p>
          <a:p>
            <a:pPr>
              <a:spcAft>
                <a:spcPts val="1000"/>
              </a:spcAft>
              <a:defRPr sz="1700">
                <a:solidFill>
                  <a:srgbClr val="203040"/>
                </a:solidFill>
                <a:latin typeface="Aptos"/>
              </a:defRPr>
            </a:pPr>
            <a:r>
              <a:t>Price and rate fields were parsed from text; price / sqft was calculated as Price ÷ Area.</a:t>
            </a:r>
          </a:p>
          <a:p>
            <a:pPr>
              <a:spcAft>
                <a:spcPts val="1000"/>
              </a:spcAft>
              <a:defRPr sz="1700">
                <a:solidFill>
                  <a:srgbClr val="203040"/>
                </a:solidFill>
                <a:latin typeface="Aptos"/>
              </a:defRPr>
            </a:pPr>
            <a:r>
              <a:t>Locality, builder and company comparisons use at least 10 listings for locality and 20 for builder/company.</a:t>
            </a:r>
          </a:p>
          <a:p>
            <a:pPr>
              <a:spcAft>
                <a:spcPts val="1000"/>
              </a:spcAft>
              <a:defRPr sz="1700">
                <a:solidFill>
                  <a:srgbClr val="203040"/>
                </a:solidFill>
                <a:latin typeface="Aptos"/>
              </a:defRPr>
            </a:pPr>
            <a:r>
              <a:t>BHK groups with fewer than 10 listings are excluded from the ranked comparison; averages are sensitive to luxury outliers.</a:t>
            </a:r>
          </a:p>
          <a:p>
            <a:pPr>
              <a:spcAft>
                <a:spcPts val="1000"/>
              </a:spcAft>
              <a:defRPr sz="1700">
                <a:solidFill>
                  <a:srgbClr val="203040"/>
                </a:solidFill>
                <a:latin typeface="Aptos"/>
              </a:defRPr>
            </a:pPr>
            <a:r>
              <a:t>Associations are descriptive, not causal; a like-for-like regression or matched comparison is the next step.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3796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>
                <a:solidFill>
                  <a:srgbClr val="78909C"/>
                </a:solidFill>
                <a:latin typeface="Aptos"/>
              </a:defRPr>
            </a:pPr>
            <a:r>
              <a:t>Property market analysis  |  12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732</Words>
  <Application>Microsoft Office PowerPoint</Application>
  <PresentationFormat>Widescreen</PresentationFormat>
  <Paragraphs>80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2026-09-05T15:00:29Z</dcterms:modified>
  <cp:category/>
</cp:coreProperties>
</file>